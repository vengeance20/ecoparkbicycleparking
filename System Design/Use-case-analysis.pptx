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59" r:id="rId3"/>
    <p:sldId id="261" r:id="rId4"/>
    <p:sldId id="297" r:id="rId5"/>
    <p:sldId id="298" r:id="rId6"/>
    <p:sldId id="299" r:id="rId7"/>
    <p:sldId id="302" r:id="rId8"/>
    <p:sldId id="303" r:id="rId9"/>
    <p:sldId id="304" r:id="rId10"/>
    <p:sldId id="305" r:id="rId11"/>
    <p:sldId id="306" r:id="rId12"/>
    <p:sldId id="307" r:id="rId13"/>
    <p:sldId id="308" r:id="rId14"/>
  </p:sldIdLst>
  <p:sldSz cx="9144000" cy="5143500" type="screen16x9"/>
  <p:notesSz cx="6858000" cy="9144000"/>
  <p:embeddedFontLst>
    <p:embeddedFont>
      <p:font typeface="Epilogue" panose="020B0604020202020204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54FF0C-4E7B-4488-AD16-72C33805A108}">
  <a:tblStyle styleId="{D954FF0C-4E7B-4488-AD16-72C33805A1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F4D729-0FA8-4A7A-8509-433C503ABAF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6" d="100"/>
          <a:sy n="96" d="100"/>
        </p:scale>
        <p:origin x="98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60" r:id="rId7"/>
    <p:sldLayoutId id="2147483661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 case analysis </a:t>
            </a:r>
            <a:endParaRPr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533129" y="1888513"/>
            <a:ext cx="2911637" cy="13664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Relational Schema</a:t>
            </a:r>
            <a:endParaRPr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8179E7-3619-359A-7B3B-13BED2439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305" y="0"/>
            <a:ext cx="496369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/>
          <p:cNvSpPr txBox="1">
            <a:spLocks noGrp="1"/>
          </p:cNvSpPr>
          <p:nvPr>
            <p:ph type="title"/>
          </p:nvPr>
        </p:nvSpPr>
        <p:spPr>
          <a:xfrm>
            <a:off x="863112" y="44162"/>
            <a:ext cx="7417676" cy="7969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General Use Case Diagram</a:t>
            </a:r>
            <a:endParaRPr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F8B6F-D707-94F2-D7D3-54D7DDFE2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21" b="3329"/>
          <a:stretch>
            <a:fillRect/>
          </a:stretch>
        </p:blipFill>
        <p:spPr>
          <a:xfrm>
            <a:off x="863112" y="841075"/>
            <a:ext cx="7327074" cy="396740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F8F24F-D36A-BB16-7BB2-7BE1C89BEC5A}"/>
              </a:ext>
            </a:extLst>
          </p:cNvPr>
          <p:cNvSpPr/>
          <p:nvPr/>
        </p:nvSpPr>
        <p:spPr>
          <a:xfrm>
            <a:off x="6960476" y="3988676"/>
            <a:ext cx="1229710" cy="819807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328226-85D9-9195-D29A-B80EC33D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/>
              <a:t>U1: Customer Account Management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6ECE4F-F35B-E72E-2045-628023C7F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0709474"/>
              </p:ext>
            </p:extLst>
          </p:nvPr>
        </p:nvGraphicFramePr>
        <p:xfrm>
          <a:off x="713225" y="1125821"/>
          <a:ext cx="7717502" cy="385866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161997">
                  <a:extLst>
                    <a:ext uri="{9D8B030D-6E8A-4147-A177-3AD203B41FA5}">
                      <a16:colId xmlns:a16="http://schemas.microsoft.com/office/drawing/2014/main" val="559237092"/>
                    </a:ext>
                  </a:extLst>
                </a:gridCol>
                <a:gridCol w="1125965">
                  <a:extLst>
                    <a:ext uri="{9D8B030D-6E8A-4147-A177-3AD203B41FA5}">
                      <a16:colId xmlns:a16="http://schemas.microsoft.com/office/drawing/2014/main" val="1363912241"/>
                    </a:ext>
                  </a:extLst>
                </a:gridCol>
                <a:gridCol w="1866435">
                  <a:extLst>
                    <a:ext uri="{9D8B030D-6E8A-4147-A177-3AD203B41FA5}">
                      <a16:colId xmlns:a16="http://schemas.microsoft.com/office/drawing/2014/main" val="2114947565"/>
                    </a:ext>
                  </a:extLst>
                </a:gridCol>
                <a:gridCol w="505282">
                  <a:extLst>
                    <a:ext uri="{9D8B030D-6E8A-4147-A177-3AD203B41FA5}">
                      <a16:colId xmlns:a16="http://schemas.microsoft.com/office/drawing/2014/main" val="566578084"/>
                    </a:ext>
                  </a:extLst>
                </a:gridCol>
                <a:gridCol w="3057823">
                  <a:extLst>
                    <a:ext uri="{9D8B030D-6E8A-4147-A177-3AD203B41FA5}">
                      <a16:colId xmlns:a16="http://schemas.microsoft.com/office/drawing/2014/main" val="4279634106"/>
                    </a:ext>
                  </a:extLst>
                </a:gridCol>
              </a:tblGrid>
              <a:tr h="189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 Case Code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 Case Name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 Account Management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extLst>
                  <a:ext uri="{0D108BD9-81ED-4DB2-BD59-A6C34878D82A}">
                    <a16:rowId xmlns:a16="http://schemas.microsoft.com/office/drawing/2014/main" val="4107904374"/>
                  </a:ext>
                </a:extLst>
              </a:tr>
              <a:tr h="189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070593"/>
                  </a:ext>
                </a:extLst>
              </a:tr>
              <a:tr h="189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Usage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Allow customers to register, log in, update profile information, and verify resident card information.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0833390"/>
                  </a:ext>
                </a:extLst>
              </a:tr>
              <a:tr h="189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Activation Event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 opens the Account Management function or selects an account-related action.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446311"/>
                  </a:ext>
                </a:extLst>
              </a:tr>
              <a:tr h="18983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Preconditions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has access to the application. For login, profile update, and resident card verification, the account must already exist.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302020"/>
                  </a:ext>
                </a:extLst>
              </a:tr>
              <a:tr h="189836">
                <a:tc rowSpan="10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Main Event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Action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b="1" dirty="0">
                          <a:effectLst/>
                        </a:rPr>
                        <a:t>Action</a:t>
                      </a:r>
                      <a:endParaRPr lang="en-US" sz="9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176980481"/>
                  </a:ext>
                </a:extLst>
              </a:tr>
              <a:tr h="1898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Selects Account Management.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Selects Account Management.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1394895574"/>
                  </a:ext>
                </a:extLst>
              </a:tr>
              <a:tr h="3143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Displays available account functions: Register, Login, Update Profile, and Verify Resident Card.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Displays available account functions: Register, Login, Update Profile, and Verify Resident Card.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3013990851"/>
                  </a:ext>
                </a:extLst>
              </a:tr>
              <a:tr h="1898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Chooses the required account function.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Chooses the required account function.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679472570"/>
                  </a:ext>
                </a:extLst>
              </a:tr>
              <a:tr h="1898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Displays the corresponding form.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Displays the corresponding form.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3860874214"/>
                  </a:ext>
                </a:extLst>
              </a:tr>
              <a:tr h="1898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Enters the required information.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Enters the required information.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3771933918"/>
                  </a:ext>
                </a:extLst>
              </a:tr>
              <a:tr h="1898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Validates the submitted information.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Validates the submitted information.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827997111"/>
                  </a:ext>
                </a:extLst>
              </a:tr>
              <a:tr h="1898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Checks related account data in the database if needed.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Checks related account data in the database if needed.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3375852568"/>
                  </a:ext>
                </a:extLst>
              </a:tr>
              <a:tr h="1898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Processes the selected account function and saves or updates data.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Processes the selected account function and saves or updates data.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3437350715"/>
                  </a:ext>
                </a:extLst>
              </a:tr>
              <a:tr h="1898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9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Displays a success message or redirects the customer to the appropriate page.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736" marR="24736" marT="24736" marB="24736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Displays a success message or redirects the customer to the appropriate page.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2444465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2889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FFF0-8266-4249-EFAF-E5FF9C9CF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EB53F1-260B-E3BD-57F9-F368360CF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/>
              <a:t>U1: Customer Account Management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D273CF1-8CC4-2992-8A5D-BF1BCC4EE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883483"/>
              </p:ext>
            </p:extLst>
          </p:nvPr>
        </p:nvGraphicFramePr>
        <p:xfrm>
          <a:off x="826983" y="1208225"/>
          <a:ext cx="7489983" cy="357288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373961">
                  <a:extLst>
                    <a:ext uri="{9D8B030D-6E8A-4147-A177-3AD203B41FA5}">
                      <a16:colId xmlns:a16="http://schemas.microsoft.com/office/drawing/2014/main" val="3366532502"/>
                    </a:ext>
                  </a:extLst>
                </a:gridCol>
                <a:gridCol w="835714">
                  <a:extLst>
                    <a:ext uri="{9D8B030D-6E8A-4147-A177-3AD203B41FA5}">
                      <a16:colId xmlns:a16="http://schemas.microsoft.com/office/drawing/2014/main" val="825740576"/>
                    </a:ext>
                  </a:extLst>
                </a:gridCol>
                <a:gridCol w="952201">
                  <a:extLst>
                    <a:ext uri="{9D8B030D-6E8A-4147-A177-3AD203B41FA5}">
                      <a16:colId xmlns:a16="http://schemas.microsoft.com/office/drawing/2014/main" val="320523639"/>
                    </a:ext>
                  </a:extLst>
                </a:gridCol>
                <a:gridCol w="4328107">
                  <a:extLst>
                    <a:ext uri="{9D8B030D-6E8A-4147-A177-3AD203B41FA5}">
                      <a16:colId xmlns:a16="http://schemas.microsoft.com/office/drawing/2014/main" val="1253045856"/>
                    </a:ext>
                  </a:extLst>
                </a:gridCol>
              </a:tblGrid>
              <a:tr h="194641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Alternative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Index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Done by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1963443982"/>
                  </a:ext>
                </a:extLst>
              </a:tr>
              <a:tr h="335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If the customer selects Register, the system checks whether the email already exists before creating a new account.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4254357245"/>
                  </a:ext>
                </a:extLst>
              </a:tr>
              <a:tr h="335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If the customer selects Login, the system authenticates the credentials and creates a session/token.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1191218889"/>
                  </a:ext>
                </a:extLst>
              </a:tr>
              <a:tr h="335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If the customer selects Update Profile, the system validates the new profile data and updates the customer record.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2815282867"/>
                  </a:ext>
                </a:extLst>
              </a:tr>
              <a:tr h="335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If the customer selects Verify Resident Card, the system checks the resident card and grants verified access when the card is valid.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840285182"/>
                  </a:ext>
                </a:extLst>
              </a:tr>
              <a:tr h="194641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Exception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Action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4133979457"/>
                  </a:ext>
                </a:extLst>
              </a:tr>
              <a:tr h="335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Registration is rejected when the email already exists. The system displays an 'Email already exists' message.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2029033128"/>
                  </a:ext>
                </a:extLst>
              </a:tr>
              <a:tr h="335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Login fails when the email or password is incorrect. The system displays an invalid credential message.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2904011664"/>
                  </a:ext>
                </a:extLst>
              </a:tr>
              <a:tr h="335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Profile update fails when required fields are missing or invalid. The system asks the customer to correct the data.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3375406275"/>
                  </a:ext>
                </a:extLst>
              </a:tr>
              <a:tr h="33506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Resident card verification fails when the card is not found or invalid. The system denies verification.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extLst>
                  <a:ext uri="{0D108BD9-81ED-4DB2-BD59-A6C34878D82A}">
                    <a16:rowId xmlns:a16="http://schemas.microsoft.com/office/drawing/2014/main" val="4224082605"/>
                  </a:ext>
                </a:extLst>
              </a:tr>
              <a:tr h="19464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The account is created, authenticated, updated, or verified successfully depending on the selected function.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155" marR="18155" marT="18155" marB="1815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65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17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64ACB-A43A-4142-817C-7193C594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E1E5F4-76BC-AEF6-D42D-F214FE9E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 dirty="0"/>
              <a:t>U2: Buy Points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8A0DD5-D92D-0BA8-566D-5758263C5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078647"/>
              </p:ext>
            </p:extLst>
          </p:nvPr>
        </p:nvGraphicFramePr>
        <p:xfrm>
          <a:off x="713225" y="1315045"/>
          <a:ext cx="7717503" cy="338343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166662">
                  <a:extLst>
                    <a:ext uri="{9D8B030D-6E8A-4147-A177-3AD203B41FA5}">
                      <a16:colId xmlns:a16="http://schemas.microsoft.com/office/drawing/2014/main" val="1101594185"/>
                    </a:ext>
                  </a:extLst>
                </a:gridCol>
                <a:gridCol w="961723">
                  <a:extLst>
                    <a:ext uri="{9D8B030D-6E8A-4147-A177-3AD203B41FA5}">
                      <a16:colId xmlns:a16="http://schemas.microsoft.com/office/drawing/2014/main" val="1830030819"/>
                    </a:ext>
                  </a:extLst>
                </a:gridCol>
                <a:gridCol w="2115221">
                  <a:extLst>
                    <a:ext uri="{9D8B030D-6E8A-4147-A177-3AD203B41FA5}">
                      <a16:colId xmlns:a16="http://schemas.microsoft.com/office/drawing/2014/main" val="4115224846"/>
                    </a:ext>
                  </a:extLst>
                </a:gridCol>
                <a:gridCol w="222901">
                  <a:extLst>
                    <a:ext uri="{9D8B030D-6E8A-4147-A177-3AD203B41FA5}">
                      <a16:colId xmlns:a16="http://schemas.microsoft.com/office/drawing/2014/main" val="4013245662"/>
                    </a:ext>
                  </a:extLst>
                </a:gridCol>
                <a:gridCol w="3250996">
                  <a:extLst>
                    <a:ext uri="{9D8B030D-6E8A-4147-A177-3AD203B41FA5}">
                      <a16:colId xmlns:a16="http://schemas.microsoft.com/office/drawing/2014/main" val="2679989176"/>
                    </a:ext>
                  </a:extLst>
                </a:gridCol>
              </a:tblGrid>
              <a:tr h="1975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 Case Code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 Case Name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Buy Points / Top-up Points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extLst>
                  <a:ext uri="{0D108BD9-81ED-4DB2-BD59-A6C34878D82A}">
                    <a16:rowId xmlns:a16="http://schemas.microsoft.com/office/drawing/2014/main" val="1329536322"/>
                  </a:ext>
                </a:extLst>
              </a:tr>
              <a:tr h="1975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7940770"/>
                  </a:ext>
                </a:extLst>
              </a:tr>
              <a:tr h="1975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Usage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Allow customers to buy points by making a payment through the system.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2656824"/>
                  </a:ext>
                </a:extLst>
              </a:tr>
              <a:tr h="1975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Activation Event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 selects the Buy Points or Top-up function.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701314"/>
                  </a:ext>
                </a:extLst>
              </a:tr>
              <a:tr h="19758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Preconditions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must be logged in. A valid payment method and the payment gateway must be available.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0938649"/>
                  </a:ext>
                </a:extLst>
              </a:tr>
              <a:tr h="197582">
                <a:tc rowSpan="10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Main Event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Action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3472815177"/>
                  </a:ext>
                </a:extLst>
              </a:tr>
              <a:tr h="197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Selects the Buy Points function.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Selects the Buy Points function.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2084032247"/>
                  </a:ext>
                </a:extLst>
              </a:tr>
              <a:tr h="197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Displays available point packages and payment methods.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Displays available point packages and payment methods.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2257075685"/>
                  </a:ext>
                </a:extLst>
              </a:tr>
              <a:tr h="197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Selects a package and confirms payment.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Selects a package and confirms payment.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367910093"/>
                  </a:ext>
                </a:extLst>
              </a:tr>
              <a:tr h="197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Sends the payment request to the payment gateway.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Sends the payment request to the payment gateway.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4172801616"/>
                  </a:ext>
                </a:extLst>
              </a:tr>
              <a:tr h="197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5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Payment Gateway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Processes the payment transaction and returns payment confirmation.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Processes the payment transaction and returns payment confirmation.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2675188284"/>
                  </a:ext>
                </a:extLst>
              </a:tr>
              <a:tr h="3363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Converts the paid amount into points according to the system conversion rate.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Converts the paid amount into points according to the system conversion rate.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4109251068"/>
                  </a:ext>
                </a:extLst>
              </a:tr>
              <a:tr h="197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customer wallet balance.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customer wallet balance.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2927753668"/>
                  </a:ext>
                </a:extLst>
              </a:tr>
              <a:tr h="197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Creates a point transaction record.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Creates a point transaction record.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1382575820"/>
                  </a:ext>
                </a:extLst>
              </a:tr>
              <a:tr h="19758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Displays a successful top-up receipt to the customer.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579" marR="20579" marT="20579" marB="20579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Displays a successful top-up receipt to the customer.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825" marR="34825" marT="34825" marB="34825"/>
                </a:tc>
                <a:extLst>
                  <a:ext uri="{0D108BD9-81ED-4DB2-BD59-A6C34878D82A}">
                    <a16:rowId xmlns:a16="http://schemas.microsoft.com/office/drawing/2014/main" val="22155309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8417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9958D-440A-E5BF-9BE8-D39641D41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63433F-BB60-BF01-DA75-A392EDF4B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/>
              <a:t>U2: Buy Points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D4CADFD-B2FE-4F7C-1BA6-701162B2A7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750737"/>
              </p:ext>
            </p:extLst>
          </p:nvPr>
        </p:nvGraphicFramePr>
        <p:xfrm>
          <a:off x="713227" y="1188347"/>
          <a:ext cx="7717498" cy="3340414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175930">
                  <a:extLst>
                    <a:ext uri="{9D8B030D-6E8A-4147-A177-3AD203B41FA5}">
                      <a16:colId xmlns:a16="http://schemas.microsoft.com/office/drawing/2014/main" val="1465845555"/>
                    </a:ext>
                  </a:extLst>
                </a:gridCol>
                <a:gridCol w="703116">
                  <a:extLst>
                    <a:ext uri="{9D8B030D-6E8A-4147-A177-3AD203B41FA5}">
                      <a16:colId xmlns:a16="http://schemas.microsoft.com/office/drawing/2014/main" val="2623212321"/>
                    </a:ext>
                  </a:extLst>
                </a:gridCol>
                <a:gridCol w="1927674">
                  <a:extLst>
                    <a:ext uri="{9D8B030D-6E8A-4147-A177-3AD203B41FA5}">
                      <a16:colId xmlns:a16="http://schemas.microsoft.com/office/drawing/2014/main" val="713844816"/>
                    </a:ext>
                  </a:extLst>
                </a:gridCol>
                <a:gridCol w="3910778">
                  <a:extLst>
                    <a:ext uri="{9D8B030D-6E8A-4147-A177-3AD203B41FA5}">
                      <a16:colId xmlns:a16="http://schemas.microsoft.com/office/drawing/2014/main" val="1056628804"/>
                    </a:ext>
                  </a:extLst>
                </a:gridCol>
              </a:tblGrid>
              <a:tr h="219366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Alternative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Index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Done by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4047025842"/>
                  </a:ext>
                </a:extLst>
              </a:tr>
              <a:tr h="3723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changes the selected point package before confirming payment. The system recalculates the payable amount.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3369648683"/>
                  </a:ext>
                </a:extLst>
              </a:tr>
              <a:tr h="3723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The customer cancels the payment before processing. The system stops the transaction and does not update the wallet.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4071429591"/>
                  </a:ext>
                </a:extLst>
              </a:tr>
              <a:tr h="3723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If different payment methods are available, the system allows the customer to choose another valid method.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4121285866"/>
                  </a:ext>
                </a:extLst>
              </a:tr>
              <a:tr h="219366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Exception Flow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Action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3594527441"/>
                  </a:ext>
                </a:extLst>
              </a:tr>
              <a:tr h="3723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Payment Gateway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Payment is declined or failed. The system displays a payment failure message and keeps the wallet unchanged.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1247826497"/>
                  </a:ext>
                </a:extLst>
              </a:tr>
              <a:tr h="3723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selected amount is invalid. The system rejects the request and asks the customer to choose a valid package.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56954189"/>
                  </a:ext>
                </a:extLst>
              </a:tr>
              <a:tr h="3723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Payment Gateway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payment gateway times out. The system shows a pending or failed payment message depending on the gateway response.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1244779486"/>
                  </a:ext>
                </a:extLst>
              </a:tr>
              <a:tr h="3723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Wallet update fails after payment confirmation. The system records the issue for rollback or manual support.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extLst>
                  <a:ext uri="{0D108BD9-81ED-4DB2-BD59-A6C34878D82A}">
                    <a16:rowId xmlns:a16="http://schemas.microsoft.com/office/drawing/2014/main" val="753842174"/>
                  </a:ext>
                </a:extLst>
              </a:tr>
              <a:tr h="2193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The customer's point balance increased, and a point transaction record is saved.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446" marR="23446" marT="23446" marB="23446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473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81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29009-BA60-28ED-4982-5255AC7D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A1C3366-1F9B-4B5E-AA3F-5ED581D41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 dirty="0"/>
              <a:t>U4: Search Stations and Vehicles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2C54C5-3D54-526C-A050-A5F81889C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026159"/>
              </p:ext>
            </p:extLst>
          </p:nvPr>
        </p:nvGraphicFramePr>
        <p:xfrm>
          <a:off x="525577" y="1107178"/>
          <a:ext cx="8092796" cy="375323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635245">
                  <a:extLst>
                    <a:ext uri="{9D8B030D-6E8A-4147-A177-3AD203B41FA5}">
                      <a16:colId xmlns:a16="http://schemas.microsoft.com/office/drawing/2014/main" val="3201929936"/>
                    </a:ext>
                  </a:extLst>
                </a:gridCol>
                <a:gridCol w="805745">
                  <a:extLst>
                    <a:ext uri="{9D8B030D-6E8A-4147-A177-3AD203B41FA5}">
                      <a16:colId xmlns:a16="http://schemas.microsoft.com/office/drawing/2014/main" val="1092841526"/>
                    </a:ext>
                  </a:extLst>
                </a:gridCol>
                <a:gridCol w="1898660">
                  <a:extLst>
                    <a:ext uri="{9D8B030D-6E8A-4147-A177-3AD203B41FA5}">
                      <a16:colId xmlns:a16="http://schemas.microsoft.com/office/drawing/2014/main" val="3832673625"/>
                    </a:ext>
                  </a:extLst>
                </a:gridCol>
                <a:gridCol w="3753146">
                  <a:extLst>
                    <a:ext uri="{9D8B030D-6E8A-4147-A177-3AD203B41FA5}">
                      <a16:colId xmlns:a16="http://schemas.microsoft.com/office/drawing/2014/main" val="856067435"/>
                    </a:ext>
                  </a:extLst>
                </a:gridCol>
              </a:tblGrid>
              <a:tr h="2394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</a:rPr>
                        <a:t>Use Case Code</a:t>
                      </a:r>
                      <a:endParaRPr lang="en-US" sz="1000" b="1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</a:rPr>
                        <a:t>U4</a:t>
                      </a:r>
                      <a:endParaRPr lang="en-US" sz="1000" b="1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</a:rPr>
                        <a:t>Use Case Name</a:t>
                      </a:r>
                      <a:endParaRPr lang="en-US" sz="1000" b="1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cap="none" spc="0">
                          <a:solidFill>
                            <a:schemeClr val="bg1"/>
                          </a:solidFill>
                          <a:effectLst/>
                        </a:rPr>
                        <a:t>Search Stations and Vehicles</a:t>
                      </a:r>
                      <a:endParaRPr lang="en-US" sz="1000" b="1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 anchor="ctr"/>
                </a:tc>
                <a:extLst>
                  <a:ext uri="{0D108BD9-81ED-4DB2-BD59-A6C34878D82A}">
                    <a16:rowId xmlns:a16="http://schemas.microsoft.com/office/drawing/2014/main" val="2281384014"/>
                  </a:ext>
                </a:extLst>
              </a:tr>
              <a:tr h="2394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  <a:effectLst/>
                        </a:rPr>
                        <a:t>Actor</a:t>
                      </a:r>
                      <a:endParaRPr lang="en-US" sz="10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8416330"/>
                  </a:ext>
                </a:extLst>
              </a:tr>
              <a:tr h="2394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  <a:effectLst/>
                        </a:rPr>
                        <a:t>Usage</a:t>
                      </a:r>
                      <a:endParaRPr lang="en-US" sz="10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Allow customers to search for nearby stations and view available vehicles.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35076"/>
                  </a:ext>
                </a:extLst>
              </a:tr>
              <a:tr h="2394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  <a:effectLst/>
                        </a:rPr>
                        <a:t>Activation Event</a:t>
                      </a:r>
                      <a:endParaRPr lang="en-US" sz="10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Customer opens the map/search function or enters a location to search.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863855"/>
                  </a:ext>
                </a:extLst>
              </a:tr>
              <a:tr h="23943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bg1"/>
                          </a:solidFill>
                          <a:effectLst/>
                        </a:rPr>
                        <a:t>Preconditions</a:t>
                      </a:r>
                      <a:endParaRPr lang="en-US" sz="1000" cap="none" spc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The application is available. The customer provides a search location or allows the system to use the current location.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356268"/>
                  </a:ext>
                </a:extLst>
              </a:tr>
              <a:tr h="239432">
                <a:tc rowSpan="10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 dirty="0">
                          <a:solidFill>
                            <a:schemeClr val="bg1"/>
                          </a:solidFill>
                          <a:effectLst/>
                        </a:rPr>
                        <a:t>Main Event Flow</a:t>
                      </a:r>
                      <a:endParaRPr lang="en-US" sz="1000" cap="none" spc="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Index</a:t>
                      </a:r>
                      <a:endParaRPr lang="en-US" sz="1000" b="1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Done by</a:t>
                      </a:r>
                      <a:endParaRPr lang="en-US" sz="1000" b="1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cap="none" spc="0">
                          <a:solidFill>
                            <a:schemeClr val="tx1"/>
                          </a:solidFill>
                          <a:effectLst/>
                        </a:rPr>
                        <a:t>Action</a:t>
                      </a:r>
                      <a:endParaRPr lang="en-US" sz="1000" b="1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3278382753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Opens the search or map function.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1025704885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Enters a location or allows the system to use the current location.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3502564746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Receives and validates the location information.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1089639166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Searches for nearby stations based on the location coordinates.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4268042303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Retrieves station information from the database.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1954060583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Retrieves available vehicle information for the matching stations.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1265670907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Combines station data with available vehicle counts.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1272609520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System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Displays stations and available vehicles on the map.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3645849872"/>
                  </a:ext>
                </a:extLst>
              </a:tr>
              <a:tr h="2394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>
                          <a:solidFill>
                            <a:schemeClr val="tx1"/>
                          </a:solidFill>
                          <a:effectLst/>
                        </a:rPr>
                        <a:t>Customer</a:t>
                      </a:r>
                      <a:endParaRPr lang="en-US" sz="1000" cap="none" spc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cap="none" spc="0" dirty="0">
                          <a:solidFill>
                            <a:schemeClr val="tx1"/>
                          </a:solidFill>
                          <a:effectLst/>
                        </a:rPr>
                        <a:t>Views station details and selects a suitable station or vehicle.</a:t>
                      </a:r>
                      <a:endParaRPr lang="en-US" sz="1000" cap="none" spc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176" marR="11916" marT="32443" marB="32443"/>
                </a:tc>
                <a:extLst>
                  <a:ext uri="{0D108BD9-81ED-4DB2-BD59-A6C34878D82A}">
                    <a16:rowId xmlns:a16="http://schemas.microsoft.com/office/drawing/2014/main" val="29901647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743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B91E3-20B9-CD28-64AB-0271FF9DB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45D7E6-360C-9BAA-26B4-A184825F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 dirty="0"/>
              <a:t>U4: Search Stations and Vehicles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2C195E-3798-1D52-E7D7-BD3C56FB2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423027"/>
              </p:ext>
            </p:extLst>
          </p:nvPr>
        </p:nvGraphicFramePr>
        <p:xfrm>
          <a:off x="713223" y="1172345"/>
          <a:ext cx="7717502" cy="376407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341998">
                  <a:extLst>
                    <a:ext uri="{9D8B030D-6E8A-4147-A177-3AD203B41FA5}">
                      <a16:colId xmlns:a16="http://schemas.microsoft.com/office/drawing/2014/main" val="2031807083"/>
                    </a:ext>
                  </a:extLst>
                </a:gridCol>
                <a:gridCol w="737572">
                  <a:extLst>
                    <a:ext uri="{9D8B030D-6E8A-4147-A177-3AD203B41FA5}">
                      <a16:colId xmlns:a16="http://schemas.microsoft.com/office/drawing/2014/main" val="4045399598"/>
                    </a:ext>
                  </a:extLst>
                </a:gridCol>
                <a:gridCol w="1356388">
                  <a:extLst>
                    <a:ext uri="{9D8B030D-6E8A-4147-A177-3AD203B41FA5}">
                      <a16:colId xmlns:a16="http://schemas.microsoft.com/office/drawing/2014/main" val="1423472263"/>
                    </a:ext>
                  </a:extLst>
                </a:gridCol>
                <a:gridCol w="4281544">
                  <a:extLst>
                    <a:ext uri="{9D8B030D-6E8A-4147-A177-3AD203B41FA5}">
                      <a16:colId xmlns:a16="http://schemas.microsoft.com/office/drawing/2014/main" val="1681611098"/>
                    </a:ext>
                  </a:extLst>
                </a:gridCol>
              </a:tblGrid>
              <a:tr h="215986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Alternative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Index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Done by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1254569584"/>
                  </a:ext>
                </a:extLst>
              </a:tr>
              <a:tr h="3603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uses current location instead of manual input. The system detects coordinates automatically.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1723313454"/>
                  </a:ext>
                </a:extLst>
              </a:tr>
              <a:tr h="3603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filters results by distance or vehicle availability. The system updates the displayed results.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799478676"/>
                  </a:ext>
                </a:extLst>
              </a:tr>
              <a:tr h="3603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 station is found but has no available vehicles. The system still displays the station with zero available vehicles.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3683940714"/>
                  </a:ext>
                </a:extLst>
              </a:tr>
              <a:tr h="3603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selects a station marker. The system displays station details and available vehicle information.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1398658755"/>
                  </a:ext>
                </a:extLst>
              </a:tr>
              <a:tr h="215986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Exception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Action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895293379"/>
                  </a:ext>
                </a:extLst>
              </a:tr>
              <a:tr h="2159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entered location is invalid. The system asks the customer to enter a valid location.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2896084413"/>
                  </a:ext>
                </a:extLst>
              </a:tr>
              <a:tr h="2159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Location permission is denied. The system allows the customer to search manually.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3418560670"/>
                  </a:ext>
                </a:extLst>
              </a:tr>
              <a:tr h="2159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No nearby stations are found. The system displays a 'No nearby stations found' message.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3427178788"/>
                  </a:ext>
                </a:extLst>
              </a:tr>
              <a:tr h="36034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Station or vehicle data cannot be loaded. The system displays an error message and asks the customer to try again.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extLst>
                  <a:ext uri="{0D108BD9-81ED-4DB2-BD59-A6C34878D82A}">
                    <a16:rowId xmlns:a16="http://schemas.microsoft.com/office/drawing/2014/main" val="1718215457"/>
                  </a:ext>
                </a:extLst>
              </a:tr>
              <a:tr h="21598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The customer can view nearby stations, available vehicle counts, and select a station or vehicle for rental.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6609" marR="26609" marT="26609" marB="26609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85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407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FD77E-2F66-E70E-1BE5-E86641AC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05895C-0DD0-125F-8704-881280276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50" y="236303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 dirty="0"/>
              <a:t>U5: Rent Vehicle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FF32CB4-2C89-CE57-8B37-5E8A8F9BF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23970"/>
              </p:ext>
            </p:extLst>
          </p:nvPr>
        </p:nvGraphicFramePr>
        <p:xfrm>
          <a:off x="636104" y="809003"/>
          <a:ext cx="7871791" cy="417402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173612">
                  <a:extLst>
                    <a:ext uri="{9D8B030D-6E8A-4147-A177-3AD203B41FA5}">
                      <a16:colId xmlns:a16="http://schemas.microsoft.com/office/drawing/2014/main" val="971593579"/>
                    </a:ext>
                  </a:extLst>
                </a:gridCol>
                <a:gridCol w="973239">
                  <a:extLst>
                    <a:ext uri="{9D8B030D-6E8A-4147-A177-3AD203B41FA5}">
                      <a16:colId xmlns:a16="http://schemas.microsoft.com/office/drawing/2014/main" val="3017707563"/>
                    </a:ext>
                  </a:extLst>
                </a:gridCol>
                <a:gridCol w="1341784">
                  <a:extLst>
                    <a:ext uri="{9D8B030D-6E8A-4147-A177-3AD203B41FA5}">
                      <a16:colId xmlns:a16="http://schemas.microsoft.com/office/drawing/2014/main" val="911512696"/>
                    </a:ext>
                  </a:extLst>
                </a:gridCol>
                <a:gridCol w="1520686">
                  <a:extLst>
                    <a:ext uri="{9D8B030D-6E8A-4147-A177-3AD203B41FA5}">
                      <a16:colId xmlns:a16="http://schemas.microsoft.com/office/drawing/2014/main" val="1051095126"/>
                    </a:ext>
                  </a:extLst>
                </a:gridCol>
                <a:gridCol w="2862470">
                  <a:extLst>
                    <a:ext uri="{9D8B030D-6E8A-4147-A177-3AD203B41FA5}">
                      <a16:colId xmlns:a16="http://schemas.microsoft.com/office/drawing/2014/main" val="1842608637"/>
                    </a:ext>
                  </a:extLst>
                </a:gridCol>
              </a:tblGrid>
              <a:tr h="1649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 Case Code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 Case Name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Rent Vehicle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680885870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1738199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Usage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Allow customers to rent an available vehicle using points in their wallet.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834198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Activation Event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 selects an available vehicle and clicks 'Rent Now'.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712302"/>
                  </a:ext>
                </a:extLst>
              </a:tr>
              <a:tr h="16490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Preconditions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must be logged in, have enough points, and the selected vehicle must be available.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6687677"/>
                  </a:ext>
                </a:extLst>
              </a:tr>
              <a:tr h="164901">
                <a:tc rowSpan="1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Main Event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Action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Action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2844561935"/>
                  </a:ext>
                </a:extLst>
              </a:tr>
              <a:tr h="164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Selects an available vehicle from a station.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Selects an available vehicle from a station.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1694604920"/>
                  </a:ext>
                </a:extLst>
              </a:tr>
              <a:tr h="164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Clicks 'Rent Now'.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Clicks 'Rent Now'.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2867311087"/>
                  </a:ext>
                </a:extLst>
              </a:tr>
              <a:tr h="1710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Receives the rental request with customer ID and vehicle ID.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Receives the rental request with customer ID and vehicle ID.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1303731479"/>
                  </a:ext>
                </a:extLst>
              </a:tr>
              <a:tr h="164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Checks the customer wallet balance.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Checks the customer wallet balance.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474278197"/>
                  </a:ext>
                </a:extLst>
              </a:tr>
              <a:tr h="164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Checks the selected vehicle status.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Checks the selected vehicle status.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2173853030"/>
                  </a:ext>
                </a:extLst>
              </a:tr>
              <a:tr h="2769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Confirms that the customer has enough points and the vehicle is available.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Confirms that the customer has enough points and the vehicle is available.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1118448609"/>
                  </a:ext>
                </a:extLst>
              </a:tr>
              <a:tr h="164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Creates a rental record.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Creates a rental record.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3097474568"/>
                  </a:ext>
                </a:extLst>
              </a:tr>
              <a:tr h="164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System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vehicle status to rented or in use.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Updates the vehicle status to rented or in use.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2679118100"/>
                  </a:ext>
                </a:extLst>
              </a:tr>
              <a:tr h="2769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Deducts or reserves the required points if required by the rental policy.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Deducts or reserves the required points if required by the rental policy.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4209540814"/>
                  </a:ext>
                </a:extLst>
              </a:tr>
              <a:tr h="164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10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Generates an unlock code or unlock instruction.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Generates an unlock code or unlock instruction.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4147758177"/>
                  </a:ext>
                </a:extLst>
              </a:tr>
              <a:tr h="27692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Displays rental confirmation and unlock code to the customer.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>
                          <a:effectLst/>
                        </a:rPr>
                        <a:t>Displays rental confirmation and unlock code to the customer.</a:t>
                      </a:r>
                      <a:endParaRPr lang="en-US" sz="9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1512541848"/>
                  </a:ext>
                </a:extLst>
              </a:tr>
              <a:tr h="1649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Uses the unlock code to start the rental.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900" dirty="0">
                          <a:effectLst/>
                        </a:rPr>
                        <a:t>Uses the unlock code to start the rental.</a:t>
                      </a:r>
                      <a:endParaRPr lang="en-US" sz="9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0924" marR="30924" marT="30924" marB="30924"/>
                </a:tc>
                <a:extLst>
                  <a:ext uri="{0D108BD9-81ED-4DB2-BD59-A6C34878D82A}">
                    <a16:rowId xmlns:a16="http://schemas.microsoft.com/office/drawing/2014/main" val="20069243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61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86113-0133-34AA-9DCA-254B910E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10F497-57C8-86C6-A69E-95A7B239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315816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 dirty="0"/>
              <a:t>U5: Rent Vehicles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712AE2-A7DD-5813-FCD2-8AB36F43A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011351"/>
              </p:ext>
            </p:extLst>
          </p:nvPr>
        </p:nvGraphicFramePr>
        <p:xfrm>
          <a:off x="737189" y="1019381"/>
          <a:ext cx="7669571" cy="388278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344016">
                  <a:extLst>
                    <a:ext uri="{9D8B030D-6E8A-4147-A177-3AD203B41FA5}">
                      <a16:colId xmlns:a16="http://schemas.microsoft.com/office/drawing/2014/main" val="97585187"/>
                    </a:ext>
                  </a:extLst>
                </a:gridCol>
                <a:gridCol w="694689">
                  <a:extLst>
                    <a:ext uri="{9D8B030D-6E8A-4147-A177-3AD203B41FA5}">
                      <a16:colId xmlns:a16="http://schemas.microsoft.com/office/drawing/2014/main" val="3598834049"/>
                    </a:ext>
                  </a:extLst>
                </a:gridCol>
                <a:gridCol w="1355622">
                  <a:extLst>
                    <a:ext uri="{9D8B030D-6E8A-4147-A177-3AD203B41FA5}">
                      <a16:colId xmlns:a16="http://schemas.microsoft.com/office/drawing/2014/main" val="3082197245"/>
                    </a:ext>
                  </a:extLst>
                </a:gridCol>
                <a:gridCol w="4275244">
                  <a:extLst>
                    <a:ext uri="{9D8B030D-6E8A-4147-A177-3AD203B41FA5}">
                      <a16:colId xmlns:a16="http://schemas.microsoft.com/office/drawing/2014/main" val="2380863996"/>
                    </a:ext>
                  </a:extLst>
                </a:gridCol>
              </a:tblGrid>
              <a:tr h="207217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Alternative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Index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Done by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2985267808"/>
                  </a:ext>
                </a:extLst>
              </a:tr>
              <a:tr h="347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If the system uses a deposit mechanism, points are reserved at rental time and final fee is calculated at return time.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4096670875"/>
                  </a:ext>
                </a:extLst>
              </a:tr>
              <a:tr h="347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changes the selected vehicle before confirming rental. The system processes the new selected vehicle.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65585741"/>
                  </a:ext>
                </a:extLst>
              </a:tr>
              <a:tr h="347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cancels the request before confirmation. The system does not create a rental record.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4005951678"/>
                  </a:ext>
                </a:extLst>
              </a:tr>
              <a:tr h="207217"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Exception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Action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3348542730"/>
                  </a:ext>
                </a:extLst>
              </a:tr>
              <a:tr h="347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has insufficient points. The system rejects the rental request and displays 'Not enough points'.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1113708377"/>
                  </a:ext>
                </a:extLst>
              </a:tr>
              <a:tr h="347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selected vehicle is unavailable, already rented, or under maintenance. The system asks the customer to choose another vehicle.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1515969723"/>
                  </a:ext>
                </a:extLst>
              </a:tr>
              <a:tr h="20721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already has an active rental. The system rejects the new rental request.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774435747"/>
                  </a:ext>
                </a:extLst>
              </a:tr>
              <a:tr h="347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Unlock code generation fails. The system cancels or marks the rental as pending and asks the customer to try again or contact support.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3542868240"/>
                  </a:ext>
                </a:extLst>
              </a:tr>
              <a:tr h="34793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Database update fails. The system rolls back the rental process and keeps vehicle and wallet status unchanged.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extLst>
                  <a:ext uri="{0D108BD9-81ED-4DB2-BD59-A6C34878D82A}">
                    <a16:rowId xmlns:a16="http://schemas.microsoft.com/office/drawing/2014/main" val="1196993760"/>
                  </a:ext>
                </a:extLst>
              </a:tr>
              <a:tr h="20721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A rental record is created, the vehicle status is updated, and the customer receives the unlock code or rental confirmation.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275" marR="24275" marT="24275" marB="2427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6564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7994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7472B-5A33-909B-34AC-A0D3F09F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CE93D9-A1AF-7009-6B3E-26094DFB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 dirty="0"/>
              <a:t>U6: Return Vehicle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339104-8F18-453F-B657-7A24DE3FE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111632"/>
              </p:ext>
            </p:extLst>
          </p:nvPr>
        </p:nvGraphicFramePr>
        <p:xfrm>
          <a:off x="713225" y="1230505"/>
          <a:ext cx="7717501" cy="346797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262499">
                  <a:extLst>
                    <a:ext uri="{9D8B030D-6E8A-4147-A177-3AD203B41FA5}">
                      <a16:colId xmlns:a16="http://schemas.microsoft.com/office/drawing/2014/main" val="4044567585"/>
                    </a:ext>
                  </a:extLst>
                </a:gridCol>
                <a:gridCol w="666568">
                  <a:extLst>
                    <a:ext uri="{9D8B030D-6E8A-4147-A177-3AD203B41FA5}">
                      <a16:colId xmlns:a16="http://schemas.microsoft.com/office/drawing/2014/main" val="3144795682"/>
                    </a:ext>
                  </a:extLst>
                </a:gridCol>
                <a:gridCol w="1422812">
                  <a:extLst>
                    <a:ext uri="{9D8B030D-6E8A-4147-A177-3AD203B41FA5}">
                      <a16:colId xmlns:a16="http://schemas.microsoft.com/office/drawing/2014/main" val="3818674029"/>
                    </a:ext>
                  </a:extLst>
                </a:gridCol>
                <a:gridCol w="446845">
                  <a:extLst>
                    <a:ext uri="{9D8B030D-6E8A-4147-A177-3AD203B41FA5}">
                      <a16:colId xmlns:a16="http://schemas.microsoft.com/office/drawing/2014/main" val="85796646"/>
                    </a:ext>
                  </a:extLst>
                </a:gridCol>
                <a:gridCol w="3918777">
                  <a:extLst>
                    <a:ext uri="{9D8B030D-6E8A-4147-A177-3AD203B41FA5}">
                      <a16:colId xmlns:a16="http://schemas.microsoft.com/office/drawing/2014/main" val="196239760"/>
                    </a:ext>
                  </a:extLst>
                </a:gridCol>
              </a:tblGrid>
              <a:tr h="1942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 Case Code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Use Case Name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Return Vehicle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2957077280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Actor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740126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Usage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Allow customers to end a rental trip, return the vehicle, calculate fee or penalty, and update wallet balance.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750565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Activation Event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 clicks 'Return Vehicle'.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79272"/>
                  </a:ext>
                </a:extLst>
              </a:tr>
              <a:tr h="1942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Preconditions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customer must have an active rental. The vehicle and return station information must be identifiable by the system.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338675"/>
                  </a:ext>
                </a:extLst>
              </a:tr>
              <a:tr h="194265">
                <a:tc rowSpan="10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Main Event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Action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636967861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Customer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Selects Return Vehicle.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Selects Return Vehicle.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439402019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Receives the return request with rental ID and return station information.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Receives the return request with rental ID and return station information.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3815803302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Retrieves rental details such as start time, vehicle ID, and customer ID.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Retrieves rental details such as start time, vehicle ID, and customer ID.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1912328803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Calculates rental duration, rental fee, late penalty, and deposit refund if applicable.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Calculates rental duration, rental fee, late penalty, and deposit refund if applicable.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2687424869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customer wallet balance according to fee, penalty, and refund.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customer wallet balance according to fee, penalty, and refund.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2778690860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6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rental record with end time and return station.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rental record with end time and return station.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264782027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7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vehicle location and status to available.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Updates the vehicle location and status to available.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2288413803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8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Creates point transaction records for fee, penalty, and refund.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Creates point transaction records for fee, penalty, and refund.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1967645106"/>
                  </a:ext>
                </a:extLst>
              </a:tr>
              <a:tr h="1942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9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gridSpan="2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Displays total fee, refund information, and updated balance to the customer.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Displays total fee, refund information, and updated balance to the customer.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3397" marR="23397" marT="23397" marB="23397"/>
                </a:tc>
                <a:extLst>
                  <a:ext uri="{0D108BD9-81ED-4DB2-BD59-A6C34878D82A}">
                    <a16:rowId xmlns:a16="http://schemas.microsoft.com/office/drawing/2014/main" val="136555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796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1061-A2E6-303C-DFEA-762A079B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24532E-EBC4-9775-6DD2-6540F72E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</p:spPr>
        <p:txBody>
          <a:bodyPr wrap="square" anchor="ctr">
            <a:normAutofit/>
          </a:bodyPr>
          <a:lstStyle/>
          <a:p>
            <a:r>
              <a:rPr lang="en-US" sz="2500" dirty="0"/>
              <a:t>U6: Return Vehicle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431C044-8E60-6D91-0D88-015E20C68B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021036"/>
              </p:ext>
            </p:extLst>
          </p:nvPr>
        </p:nvGraphicFramePr>
        <p:xfrm>
          <a:off x="810384" y="1017725"/>
          <a:ext cx="7523182" cy="3897504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324290">
                  <a:extLst>
                    <a:ext uri="{9D8B030D-6E8A-4147-A177-3AD203B41FA5}">
                      <a16:colId xmlns:a16="http://schemas.microsoft.com/office/drawing/2014/main" val="3424426980"/>
                    </a:ext>
                  </a:extLst>
                </a:gridCol>
                <a:gridCol w="705420">
                  <a:extLst>
                    <a:ext uri="{9D8B030D-6E8A-4147-A177-3AD203B41FA5}">
                      <a16:colId xmlns:a16="http://schemas.microsoft.com/office/drawing/2014/main" val="1686996158"/>
                    </a:ext>
                  </a:extLst>
                </a:gridCol>
                <a:gridCol w="1248111">
                  <a:extLst>
                    <a:ext uri="{9D8B030D-6E8A-4147-A177-3AD203B41FA5}">
                      <a16:colId xmlns:a16="http://schemas.microsoft.com/office/drawing/2014/main" val="16673666"/>
                    </a:ext>
                  </a:extLst>
                </a:gridCol>
                <a:gridCol w="4245361">
                  <a:extLst>
                    <a:ext uri="{9D8B030D-6E8A-4147-A177-3AD203B41FA5}">
                      <a16:colId xmlns:a16="http://schemas.microsoft.com/office/drawing/2014/main" val="3998991686"/>
                    </a:ext>
                  </a:extLst>
                </a:gridCol>
              </a:tblGrid>
              <a:tr h="207699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Alternative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Index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Done by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Action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1702812910"/>
                  </a:ext>
                </a:extLst>
              </a:tr>
              <a:tr h="347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vehicle is returned within the allowed time. The system charges the normal fee and refunds the remaining deposit.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2108687008"/>
                  </a:ext>
                </a:extLst>
              </a:tr>
              <a:tr h="2076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vehicle is returned late. The system adds a late penalty before updating the wallet.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254821771"/>
                  </a:ext>
                </a:extLst>
              </a:tr>
              <a:tr h="347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vehicle is returned to a different allowed station. The system updates the return station and applies an extra fee if required.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2905099977"/>
                  </a:ext>
                </a:extLst>
              </a:tr>
              <a:tr h="347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A4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If deposit is greater than the final fee, the system refunds the remaining points to the customer's wallet.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1600256756"/>
                  </a:ext>
                </a:extLst>
              </a:tr>
              <a:tr h="207699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Exception Flow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Index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>
                          <a:effectLst/>
                        </a:rPr>
                        <a:t>Done by</a:t>
                      </a:r>
                      <a:endParaRPr lang="en-US" sz="10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b="1" dirty="0">
                          <a:effectLst/>
                        </a:rPr>
                        <a:t>Action</a:t>
                      </a:r>
                      <a:endParaRPr lang="en-US" sz="10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2127615033"/>
                  </a:ext>
                </a:extLst>
              </a:tr>
              <a:tr h="347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E1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The rental record is not found or has already been returned. The system rejects the return request.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4095724498"/>
                  </a:ext>
                </a:extLst>
              </a:tr>
              <a:tr h="347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E2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return station is invalid or not allowed. The system asks the customer to choose a valid return station.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149511116"/>
                  </a:ext>
                </a:extLst>
              </a:tr>
              <a:tr h="347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E3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The wallet balance is insufficient to pay the late penalty. The system marks the transaction for follow-up or requires additional points.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4213214200"/>
                  </a:ext>
                </a:extLst>
              </a:tr>
              <a:tr h="3476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E4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System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Rental, wallet, or vehicle status update fails. The system rolls back the operation and displays an error message.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extLst>
                  <a:ext uri="{0D108BD9-81ED-4DB2-BD59-A6C34878D82A}">
                    <a16:rowId xmlns:a16="http://schemas.microsoft.com/office/drawing/2014/main" val="2859957929"/>
                  </a:ext>
                </a:extLst>
              </a:tr>
              <a:tr h="20769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>
                          <a:effectLst/>
                        </a:rPr>
                        <a:t>Postconditions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 grid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000" dirty="0">
                          <a:effectLst/>
                        </a:rPr>
                        <a:t>The rental trip is closed, the vehicle status and location are updated, and the customer's wallet balance is recalculated.</a:t>
                      </a: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4944" marR="24944" marT="24944" marB="24944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1318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7378661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1943</Words>
  <Application>Microsoft Office PowerPoint</Application>
  <PresentationFormat>On-screen Show (16:9)</PresentationFormat>
  <Paragraphs>404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Nunito Light</vt:lpstr>
      <vt:lpstr>Epilogue</vt:lpstr>
      <vt:lpstr>Arial</vt:lpstr>
      <vt:lpstr>Lato</vt:lpstr>
      <vt:lpstr>Times New Roman</vt:lpstr>
      <vt:lpstr>Multimedia Software Pitch Deck by Slidesgo</vt:lpstr>
      <vt:lpstr>Use case analysis </vt:lpstr>
      <vt:lpstr>Relational Schema</vt:lpstr>
      <vt:lpstr>General Use Case Diagram</vt:lpstr>
      <vt:lpstr>U1: Customer Account Management</vt:lpstr>
      <vt:lpstr>U1: Customer Account Management</vt:lpstr>
      <vt:lpstr>U2: Buy Points</vt:lpstr>
      <vt:lpstr>U2: Buy Points</vt:lpstr>
      <vt:lpstr>U4: Search Stations and Vehicles</vt:lpstr>
      <vt:lpstr>U4: Search Stations and Vehicles</vt:lpstr>
      <vt:lpstr>U5: Rent Vehicle</vt:lpstr>
      <vt:lpstr>U5: Rent Vehicles</vt:lpstr>
      <vt:lpstr>U6: Return Vehicle</vt:lpstr>
      <vt:lpstr>U6: Return Vehicle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Bui Cong Minh 20235601</cp:lastModifiedBy>
  <cp:revision>1</cp:revision>
  <dcterms:modified xsi:type="dcterms:W3CDTF">2026-05-04T11:48:31Z</dcterms:modified>
</cp:coreProperties>
</file>